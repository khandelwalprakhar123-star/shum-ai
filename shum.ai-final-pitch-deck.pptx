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presenting live, open on the actual group chat instead of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-steam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40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TINKERERS · AGENTS, EVERYWHERE · HONG KONG (CYBERPORT) · SEP 12–13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96596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29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knows why six people can't agree on dinner.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argument. Runs the poll. Picks up the phone.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9144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6080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github.com/khandelwalprakhar123-star/Shum-AI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F1E7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AF6ED"/>
          </a:solidFill>
          <a:ln w="12700">
            <a:solidFill>
              <a:srgbClr val="E0D6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pic>
        <p:nvPicPr>
          <p:cNvPr id="6" name="Image 0" descr="icons/wis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know this chat.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4206240" cy="4206240"/>
          </a:xfrm>
          <a:prstGeom prst="roundRect">
            <a:avLst>
              <a:gd name="adj" fmla="val 3043"/>
            </a:avLst>
          </a:prstGeom>
          <a:solidFill>
            <a:srgbClr val="2B171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3317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9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traded before anyone commits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846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C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at 19:40, someone says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0C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“just pick anything.”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66360" y="2148840"/>
            <a:ext cx="621792" cy="621792"/>
          </a:xfrm>
          <a:prstGeom prst="ellipse">
            <a:avLst/>
          </a:prstGeom>
          <a:solidFill>
            <a:srgbClr val="C1442E"/>
          </a:solidFill>
          <a:ln w="12700">
            <a:solidFill>
              <a:srgbClr val="C1442E"/>
            </a:solidFill>
            <a:prstDash val="solid"/>
          </a:ln>
        </p:spPr>
      </p:sp>
      <p:pic>
        <p:nvPicPr>
          <p:cNvPr id="14" name="Image 1" descr="icons/clo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975" y="2223455"/>
            <a:ext cx="472562" cy="47256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989320" y="213055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messages of preferences. Zero decisions.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166360" y="3429000"/>
            <a:ext cx="621792" cy="621792"/>
          </a:xfrm>
          <a:prstGeom prst="ellipse">
            <a:avLst/>
          </a:prstGeom>
          <a:solidFill>
            <a:srgbClr val="C1442E"/>
          </a:solidFill>
          <a:ln w="12700">
            <a:solidFill>
              <a:srgbClr val="C1442E"/>
            </a:solidFill>
            <a:prstDash val="solid"/>
          </a:ln>
        </p:spPr>
      </p:sp>
      <p:pic>
        <p:nvPicPr>
          <p:cNvPr id="17" name="Image 2" descr="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975" y="3503615"/>
            <a:ext cx="472562" cy="4725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989320" y="341071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somebody just picks — and somebody else is annoyed about it.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166360" y="4892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6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happens every week, in every group chat. This is one of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3D26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pic>
        <p:nvPicPr>
          <p:cNvPr id="6" name="Image 0" descr="icons/wisp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Coordination, not recommendation.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restaurants is solved. The advantage isn’t a better model — it’s having read the last two hundred messages.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11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SOMEBODY TYPED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011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SHUM-AI EXTRACTS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331720"/>
            <a:ext cx="11094415" cy="0"/>
          </a:xfrm>
          <a:prstGeom prst="line">
            <a:avLst/>
          </a:prstGeom>
          <a:noFill/>
          <a:ln w="9525">
            <a:solidFill>
              <a:srgbClr val="5A463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51460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“I’m coming from Sha Tin, central is a fight”</a:t>
            </a:r>
            <a:endParaRPr lang="en-US" sz="1300" dirty="0"/>
          </a:p>
        </p:txBody>
      </p:sp>
      <p:pic>
        <p:nvPicPr>
          <p:cNvPr id="14" name="Image 1" descr="icons/arrow-righ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6609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251460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reach from Sha Tin — not near it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136392"/>
            <a:ext cx="11094415" cy="0"/>
          </a:xfrm>
          <a:prstGeom prst="line">
            <a:avLst/>
          </a:prstGeom>
          <a:noFill/>
          <a:ln w="9525">
            <a:solidFill>
              <a:srgbClr val="5A463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322783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pork for me, as ever”</a:t>
            </a:r>
            <a:endParaRPr lang="en-US" sz="1300" dirty="0"/>
          </a:p>
        </p:txBody>
      </p:sp>
      <p:pic>
        <p:nvPicPr>
          <p:cNvPr id="18" name="Image 2" descr="icons/arrow-right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3741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322783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Priya: no pork, every time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849624"/>
            <a:ext cx="11094415" cy="0"/>
          </a:xfrm>
          <a:prstGeom prst="line">
            <a:avLst/>
          </a:prstGeom>
          <a:noFill/>
          <a:ln w="9525">
            <a:solidFill>
              <a:srgbClr val="5A463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3941064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said no to hotpot twice this month”</a:t>
            </a:r>
            <a:endParaRPr lang="en-US" sz="1300" dirty="0"/>
          </a:p>
        </p:txBody>
      </p:sp>
      <p:pic>
        <p:nvPicPr>
          <p:cNvPr id="22" name="Image 3" descr="icons/arrow-righ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08736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55080" y="3941064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 vetoed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562856"/>
            <a:ext cx="11094415" cy="0"/>
          </a:xfrm>
          <a:prstGeom prst="line">
            <a:avLst/>
          </a:prstGeom>
          <a:noFill/>
          <a:ln w="9525">
            <a:solidFill>
              <a:srgbClr val="5A463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48640" y="4654296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“let’s keep it cheap this time” — said in July, never repeated</a:t>
            </a:r>
            <a:endParaRPr lang="en-US" sz="1300" dirty="0"/>
          </a:p>
        </p:txBody>
      </p:sp>
      <p:pic>
        <p:nvPicPr>
          <p:cNvPr id="26" name="Image 4" descr="icons/arrow-right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8006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355080" y="4654296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agreed in July, still standing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7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it would ever be typed into a form. It exists only in the chat — which is why the agent has to live there.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F1E7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AF6ED"/>
          </a:solidFill>
          <a:ln w="12700">
            <a:solidFill>
              <a:srgbClr val="E0D6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pic>
        <p:nvPicPr>
          <p:cNvPr id="6" name="Image 0" descr="icons/wis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CRITERION TWO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environment shape the workflow?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21208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0D6C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7A6852"/>
          </a:solidFill>
          <a:ln w="12700">
            <a:solidFill>
              <a:srgbClr val="7A6852"/>
            </a:solidFill>
            <a:prstDash val="solid"/>
          </a:ln>
        </p:spPr>
      </p:sp>
      <p:pic>
        <p:nvPicPr>
          <p:cNvPr id="11" name="Image 1" descr="icons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31" y="235403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313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everyone builds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recommender that happens to sit in a chat window.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14400" y="4114800"/>
            <a:ext cx="4480560" cy="0"/>
          </a:xfrm>
          <a:prstGeom prst="line">
            <a:avLst/>
          </a:prstGeom>
          <a:noFill/>
          <a:ln w="9525">
            <a:solidFill>
              <a:srgbClr val="E0D6C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4400" y="4297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7A6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it to a web form and nothing is lost. The chat is a skin.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80760" y="1965960"/>
            <a:ext cx="5577840" cy="3794760"/>
          </a:xfrm>
          <a:prstGeom prst="roundRect">
            <a:avLst>
              <a:gd name="adj" fmla="val 289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46520" y="2286000"/>
            <a:ext cx="566928" cy="566928"/>
          </a:xfrm>
          <a:prstGeom prst="ellipse">
            <a:avLst/>
          </a:prstGeom>
          <a:solidFill>
            <a:srgbClr val="C1442E"/>
          </a:solidFill>
          <a:ln w="12700">
            <a:solidFill>
              <a:srgbClr val="C1442E"/>
            </a:solidFill>
            <a:prstDash val="solid"/>
          </a:ln>
        </p:spPr>
      </p:sp>
      <p:pic>
        <p:nvPicPr>
          <p:cNvPr id="18" name="Image 2" descr="icons/message-circ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551" y="2354031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32320" y="2313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shum.ai is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that could not exist anywhere else.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46520" y="4114800"/>
            <a:ext cx="4846320" cy="0"/>
          </a:xfrm>
          <a:prstGeom prst="line">
            <a:avLst/>
          </a:prstGeom>
          <a:noFill/>
          <a:ln w="9525">
            <a:solidFill>
              <a:srgbClr val="B5842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46520" y="42976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input is two hundred messages nobody would ever retype.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48640" y="5989320"/>
            <a:ext cx="11094415" cy="0"/>
          </a:xfrm>
          <a:prstGeom prst="line">
            <a:avLst/>
          </a:prstGeom>
          <a:noFill/>
          <a:ln w="9525">
            <a:solidFill>
              <a:srgbClr val="E0D6C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second gap: a group chat cannot close a decision. So the agent sets a deadline, posts a real poll, and decides by default if nobody objects.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F1E7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AF6ED"/>
          </a:solidFill>
          <a:ln w="12700">
            <a:solidFill>
              <a:srgbClr val="E0D6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pic>
        <p:nvPicPr>
          <p:cNvPr id="6" name="Image 0" descr="icons/wis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command, six steps.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1303020" y="3360420"/>
            <a:ext cx="9585655" cy="0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21715" y="2880360"/>
            <a:ext cx="960120" cy="96012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AF6ED"/>
            </a:solidFill>
            <a:prstDash val="solid"/>
          </a:ln>
        </p:spPr>
      </p:sp>
      <p:pic>
        <p:nvPicPr>
          <p:cNvPr id="11" name="Image 1" descr="icons/message-circ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941" y="3091586"/>
            <a:ext cx="537667" cy="5376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75995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4023360"/>
            <a:ext cx="1940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/decide reads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979344" y="2880360"/>
            <a:ext cx="960120" cy="96012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AF6ED"/>
            </a:solidFill>
            <a:prstDash val="solid"/>
          </a:ln>
        </p:spPr>
      </p:sp>
      <p:pic>
        <p:nvPicPr>
          <p:cNvPr id="15" name="Image 2" descr="icon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70" y="3091586"/>
            <a:ext cx="537667" cy="5376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33624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489149" y="4023360"/>
            <a:ext cx="1940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pulls out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36973" y="2880360"/>
            <a:ext cx="960120" cy="96012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AF6ED"/>
            </a:solidFill>
            <a:prstDash val="solid"/>
          </a:ln>
        </p:spPr>
      </p:sp>
      <p:pic>
        <p:nvPicPr>
          <p:cNvPr id="19" name="Image 3" descr="icons/map-pi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199" y="3091586"/>
            <a:ext cx="537667" cy="53766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91253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246778" y="4023360"/>
            <a:ext cx="1940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+ Exa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3 places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94602" y="2880360"/>
            <a:ext cx="960120" cy="96012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AF6ED"/>
            </a:solidFill>
            <a:prstDash val="solid"/>
          </a:ln>
        </p:spPr>
      </p:sp>
      <p:pic>
        <p:nvPicPr>
          <p:cNvPr id="23" name="Image 4" descr="icons/check-squar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829" y="3091586"/>
            <a:ext cx="537667" cy="53766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448882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004408" y="4023360"/>
            <a:ext cx="1940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Poll, vote,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252231" y="2880360"/>
            <a:ext cx="960120" cy="96012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AF6ED"/>
            </a:solidFill>
            <a:prstDash val="solid"/>
          </a:ln>
        </p:spPr>
      </p:sp>
      <p:pic>
        <p:nvPicPr>
          <p:cNvPr id="27" name="Image 5" descr="icons/user-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458" y="3091586"/>
            <a:ext cx="537667" cy="53766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206511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7762037" y="4023360"/>
            <a:ext cx="1940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10009861" y="2880360"/>
            <a:ext cx="960120" cy="960120"/>
          </a:xfrm>
          <a:prstGeom prst="ellipse">
            <a:avLst/>
          </a:prstGeom>
          <a:solidFill>
            <a:srgbClr val="C1442E"/>
          </a:solidFill>
          <a:ln w="38100">
            <a:solidFill>
              <a:srgbClr val="FAF6ED"/>
            </a:solidFill>
            <a:prstDash val="solid"/>
          </a:ln>
        </p:spPr>
      </p:sp>
      <p:pic>
        <p:nvPicPr>
          <p:cNvPr id="31" name="Image 6" descr="icons/phone-call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1087" y="3091586"/>
            <a:ext cx="537667" cy="53766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964141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519666" y="4023360"/>
            <a:ext cx="1940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Underneath: Telegram, Gemini, OpenStreetMap, Exa, ElevenLabs, OpenRouter — six tools, all free or free-tier.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8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bot.py → pipeline.py → places.py / exa_search.py → native Telegram poll → bridge/pending_call.json → ElevenLabs over WebRTC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3D26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pic>
        <p:nvPicPr>
          <p:cNvPr id="6" name="Image 0" descr="icons/wisp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SIX · VERIFIED 11–12 SEP 2026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booking API we can call?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1696669" cy="2743200"/>
          </a:xfrm>
          <a:prstGeom prst="roundRect">
            <a:avLst>
              <a:gd name="adj" fmla="val 4312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" y="2167128"/>
            <a:ext cx="14040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OpenTable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78892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3657600"/>
            <a:ext cx="14040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application,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four week review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28189" y="1965960"/>
            <a:ext cx="1696669" cy="2743200"/>
          </a:xfrm>
          <a:prstGeom prst="roundRect">
            <a:avLst>
              <a:gd name="adj" fmla="val 4312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74493" y="2167128"/>
            <a:ext cx="14040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Resy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2519629" y="278892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2574493" y="3657600"/>
            <a:ext cx="14040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tier only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07738" y="1965960"/>
            <a:ext cx="1696669" cy="2743200"/>
          </a:xfrm>
          <a:prstGeom prst="roundRect">
            <a:avLst>
              <a:gd name="adj" fmla="val 4312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54042" y="2167128"/>
            <a:ext cx="14040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SevenRooms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399178" y="278892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4454042" y="3657600"/>
            <a:ext cx="14040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ecosystem,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open signup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87288" y="1965960"/>
            <a:ext cx="1696669" cy="2743200"/>
          </a:xfrm>
          <a:prstGeom prst="roundRect">
            <a:avLst>
              <a:gd name="adj" fmla="val 4312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33592" y="2167128"/>
            <a:ext cx="14040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Tock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278728" y="278892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6333592" y="3657600"/>
            <a:ext cx="14040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Partner-level only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066837" y="1965960"/>
            <a:ext cx="1696669" cy="2743200"/>
          </a:xfrm>
          <a:prstGeom prst="roundRect">
            <a:avLst>
              <a:gd name="adj" fmla="val 4312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13141" y="2167128"/>
            <a:ext cx="14040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OpenRice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158277" y="278892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8213141" y="3657600"/>
            <a:ext cx="14040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HK’s own platform.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crawlers by name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946386" y="1965960"/>
            <a:ext cx="1696669" cy="2743200"/>
          </a:xfrm>
          <a:prstGeom prst="roundRect">
            <a:avLst>
              <a:gd name="adj" fmla="val 4312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92690" y="2167128"/>
            <a:ext cx="14040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Chope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10037826" y="278892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10092690" y="3657600"/>
            <a:ext cx="14040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links only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48640" y="5029200"/>
            <a:ext cx="11094415" cy="0"/>
          </a:xfrm>
          <a:prstGeom prst="line">
            <a:avLst/>
          </a:prstGeom>
          <a:noFill/>
          <a:ln w="9525">
            <a:solidFill>
              <a:srgbClr val="5A463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C1442E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don’t fake the ending. We pick up the phone and call.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F1E7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AF6ED"/>
          </a:solidFill>
          <a:ln w="12700">
            <a:solidFill>
              <a:srgbClr val="E0D6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pic>
        <p:nvPicPr>
          <p:cNvPr id="6" name="Image 0" descr="icons/wis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LAYER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laptop, a browser tab, and your real phone.</a:t>
            </a:r>
            <a:endParaRPr lang="en-US" sz="3200" dirty="0"/>
          </a:p>
        </p:txBody>
      </p:sp>
      <p:pic>
        <p:nvPicPr>
          <p:cNvPr id="9" name="Image 1" descr="photo-pl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920240"/>
            <a:ext cx="4023360" cy="4023360"/>
          </a:xfrm>
          <a:prstGeom prst="ellipse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37760" y="1920240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1" name="Image 2" descr="icons/radi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791" y="1988271"/>
            <a:ext cx="430865" cy="4308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8745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Twilio, no phone number — the agent runs in a browser tab over WebRTC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937760" y="2926080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4" name="Image 3" descr="icons/phone-call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791" y="2994111"/>
            <a:ext cx="430865" cy="4308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15000" y="28803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dial the restaurant yourself, on your own phone, on speaker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937760" y="3931920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7" name="Image 4" descr="icons/message-circ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791" y="3999951"/>
            <a:ext cx="430865" cy="4308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715000" y="38862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mic and the phone speaker just… talk to each other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937760" y="4937760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0" name="Image 5" descr="icons/shield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5791" y="5005791"/>
            <a:ext cx="430865" cy="43086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715000" y="48920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localhost, so there’s no tunnel to die on stage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 stays your real +852. No HKID bundle, no per-minute cost, no waiting on a regulator. And the language: it speaks English, listens in Cantonese — Scribe transcribes Cantonese at 5.9% WER, but no ElevenLabs voice speaks it back.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3D26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pic>
        <p:nvPicPr>
          <p:cNvPr id="6" name="Image 0" descr="icons/wisp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Rails, not polish.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1122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112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it is an AI, first sentence.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49631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I’m an AI assistant calling on behalf of…” Not on request, not buried three turns in.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19659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21122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2112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approves. A human dials.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249631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starts a call by itself, and never touches the keypad.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75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5753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routes to a number we own.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95935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DEMO_PHONE overrides whichever restaurant won. The approval card says so out loud.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63640" y="342900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357530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35753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numbers that consented.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395935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CONSENTED_NUMBERS is an allowlist enforced in code — anything else is refused, in the chat.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8920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50383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50383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phone number.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542239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can’t: pipeline.py structurally strips any phone field it returns.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263640" y="48920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92240" y="50383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50383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book a real table, we turn up.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542239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we cancel it. A booking made for a demo is still a booking somebody has to hold.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F1E7D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AF6ED"/>
          </a:solidFill>
          <a:ln w="12700">
            <a:solidFill>
              <a:srgbClr val="E0D6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pic>
        <p:nvPicPr>
          <p:cNvPr id="6" name="Image 0" descr="icons/wis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7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Here’s the two minutes.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745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1874520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the real group chat. Not a title card.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6517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0:12–0:28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651760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who this is for, in one sentence.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C144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290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0:28–1:25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331720" y="3429000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unbroken take: /decide → poll → approve → the phone rings.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20624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42062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1:25–1:40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331720" y="4206240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catches something the bot got wrong.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9834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983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1:40–1:52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331720" y="4983480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why this only works inside the chat.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576072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57607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1:52–2:00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331720" y="5760720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real, what’s stubbed.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303520"/>
            <a:ext cx="3108960" cy="3108960"/>
          </a:xfrm>
          <a:prstGeom prst="ellipse">
            <a:avLst/>
          </a:prstGeom>
          <a:solidFill>
            <a:srgbClr val="3D26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865815" y="274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5815" y="2743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pic>
        <p:nvPicPr>
          <p:cNvPr id="6" name="Image 0" descr="icons/wisp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932688"/>
            <a:ext cx="731520" cy="6071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ASK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actually working right now.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6E8F49"/>
          </a:solidFill>
          <a:ln w="12700">
            <a:solidFill>
              <a:srgbClr val="6E8F49"/>
            </a:solidFill>
            <a:prstDash val="solid"/>
          </a:ln>
        </p:spPr>
      </p:sp>
      <p:pic>
        <p:nvPicPr>
          <p:cNvPr id="11" name="Image 1" descr="icons/check-squar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" y="220919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tonight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27432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phone rings and the agent holds the conversation through it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pulled from live group history, with the exact quote each one came from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Dialable numbers from OpenStreetMap: 156 of 1,199 named places sampled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Poll, tally, close, and a human gate before anything dials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test suites against a fully mocked network — a skipped test fails the run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63640" y="18288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3D2618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C1442E"/>
          </a:solidFill>
          <a:ln w="12700">
            <a:solidFill>
              <a:srgbClr val="C1442E"/>
            </a:solidFill>
            <a:prstDash val="solid"/>
          </a:ln>
        </p:spPr>
      </p:sp>
      <p:pic>
        <p:nvPicPr>
          <p:cNvPr id="16" name="Image 2" descr="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220919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69480" y="2148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verified, and we’ll say so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274320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 has never run against a live key — four mocked shapes, no real call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only has phone numbers for about 1 in 5 places — so we sort those first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coverage is one bounding box, sampled on one day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Cantonese in, English out — ElevenLabs has no Cantonese voice yet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B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CopilotKit console never got built. Wasn’t the priority.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shum.ai — coordination, not recommendation.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B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github.com/khandelwalprakhar123-star/Shum-AI  ·  AI Tinkerers · Agents, Everywhere · Hong Kong (Cyberport) · Sep 12–13,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2026-09-12T05:15:22Z</dcterms:created>
  <dcterms:modified xsi:type="dcterms:W3CDTF">2026-09-12T05:15:22Z</dcterms:modified>
</cp:coreProperties>
</file>